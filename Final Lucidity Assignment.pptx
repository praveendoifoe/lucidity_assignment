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9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9" r:id="rId3"/>
    <p:sldId id="261" r:id="rId4"/>
    <p:sldId id="260" r:id="rId5"/>
    <p:sldId id="265" r:id="rId6"/>
    <p:sldId id="267" r:id="rId7"/>
    <p:sldId id="268" r:id="rId8"/>
    <p:sldId id="269" r:id="rId9"/>
    <p:sldId id="257" r:id="rId10"/>
    <p:sldId id="271" r:id="rId11"/>
    <p:sldId id="266" r:id="rId12"/>
    <p:sldId id="270" r:id="rId13"/>
    <p:sldId id="272" r:id="rId14"/>
    <p:sldId id="263" r:id="rId15"/>
    <p:sldId id="274" r:id="rId16"/>
    <p:sldId id="275" r:id="rId17"/>
    <p:sldId id="276" r:id="rId18"/>
    <p:sldId id="27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1934FDD-E534-8F24-2F1C-8E2D5A6D75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60A4AF-8176-F76D-512F-C7B4AF3B331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8B6D49-2CA6-44B6-A667-60B5B1AFAF90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CDD5FD-45B0-CD96-A945-23DFD32EBD6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4EDD90-07BE-32E7-D795-6B979506590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3929DE-427D-4725-AEAE-88EFD5135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44621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0F2369-A858-4437-9AAB-6C31EEA8B5C9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D9A51A-D451-4D2C-9948-D4B2A62FB5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3851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1734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753C6-FAA6-461F-A7B7-91D7428F1946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60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DCD4-C491-40E8-9659-40B8AD7121C0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312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ADE3F-3661-4D35-8AC6-CC8058AAB864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283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03473-0215-46F6-8272-25F63EC61FA9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690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162C-4182-4ED6-A5D7-DF8CFDC3D17F}" type="datetime1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06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19FAB-4824-4605-8D9F-90AE5C80CEE2}" type="datetime1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706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B6AF7-9690-4CF9-8006-7E60478FDB71}" type="datetime1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695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4C70F-5A8F-4297-84E7-EE387A61653F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086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3B253-DD03-4AD8-860F-DF5AEA443445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79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F7E07-6C68-4F9A-BFDC-F4DA1F1F3B51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979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DD5A4-DE1C-42AE-9133-3DA87298B465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412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8B1DCC20-C024-484D-A0D5-256BFBFA65E3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8724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praveendoifoe/lucidity_Assignment/blob/main/06_AWS_ssm_document_disk.yml" TargetMode="External"/><Relationship Id="rId3" Type="http://schemas.openxmlformats.org/officeDocument/2006/relationships/hyperlink" Target="https://github.com/praveendoifoe/lucidity_Assignment/blob/main/01_sink_creation.yml" TargetMode="External"/><Relationship Id="rId7" Type="http://schemas.openxmlformats.org/officeDocument/2006/relationships/hyperlink" Target="https://github.com/praveendoifoe/lucidity_Assignment/blob/main/05_paramter_Stor_for_disk_conf.yaml" TargetMode="External"/><Relationship Id="rId2" Type="http://schemas.openxmlformats.org/officeDocument/2006/relationships/hyperlink" Target="https://github.com/praveendoifoe/lucidity_Assignment/blob/main/09_CFT_cross_acc_role_disc.y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praveendoifoe/lucidity_Assignment/blob/main/04_aws_cw_agent_install.yml" TargetMode="External"/><Relationship Id="rId5" Type="http://schemas.openxmlformats.org/officeDocument/2006/relationships/hyperlink" Target="https://github.com/praveendoifoe/lucidity_Assignment/blob/main/03_Link_creation_source.yml" TargetMode="External"/><Relationship Id="rId4" Type="http://schemas.openxmlformats.org/officeDocument/2006/relationships/hyperlink" Target="https://github.com/praveendoifoe/lucidity_Assignment/blob/main/02_sink_policy.json" TargetMode="External"/><Relationship Id="rId9" Type="http://schemas.openxmlformats.org/officeDocument/2006/relationships/hyperlink" Target="https://github.com/praveendoifoe/lucidity_Assignment/blob/main/07_On-boarding_ssm_trigger.yml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7CB591-C29A-08E1-32D8-D9187E29EB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/>
          </a:bodyPr>
          <a:lstStyle/>
          <a:p>
            <a:r>
              <a:rPr lang="en-IN" dirty="0"/>
              <a:t>Lucidity Assignment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CE47A0-563F-0A49-2CE2-E026C9B81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688" y="4785543"/>
            <a:ext cx="4857857" cy="1005657"/>
          </a:xfrm>
        </p:spPr>
        <p:txBody>
          <a:bodyPr>
            <a:normAutofit/>
          </a:bodyPr>
          <a:lstStyle/>
          <a:p>
            <a:r>
              <a:rPr lang="en-IN" dirty="0"/>
              <a:t>By: Praveen Doifode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A3719975-4793-A418-EB07-F2BFAA991B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17" r="26750" b="-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113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57A84-00D6-45B0-E729-2DE95A6E0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Index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35265-921F-07A5-7F14-80F40F36D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938068"/>
            <a:ext cx="10691265" cy="4023820"/>
          </a:xfrm>
        </p:spPr>
        <p:txBody>
          <a:bodyPr>
            <a:normAutofit/>
          </a:bodyPr>
          <a:lstStyle/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Challenges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High Level Architecture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AWS Focused Solution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Security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Scalability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Configuration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Assignment Question &amp; Answer</a:t>
            </a:r>
          </a:p>
          <a:p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23EA44-C020-C600-F850-84A4CCE6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29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17AB1-5296-285A-6746-980C9849C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78FBE-883D-FD31-B63B-F0CAEEEC3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905690"/>
            <a:ext cx="10691265" cy="373989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Enterprise growth and Infra fragmentation increases concerns about potential disk space issue across multi cloud and multi environments.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No unified operational dashboard across cloud providers leads to silent disk exhaustion and unplanned downtime.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Want to leverage existing Ansible along with cloud native tools.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Solution should be reliable and scalable for future growth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Ease of Access &amp; Management with Continuous disk space &amp; metric monitoring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76B6B-C424-9285-C80C-E751E6309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328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FDDC9-B2C3-BDDB-BC69-3647943E9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6BF8F-95D5-5467-6899-671584F43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As cloud Infrastructure spread across multiple AWS accounts, maintaining storage visibility becomes complex and difficult that could lead to unplanned downtime caused by disk space.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This assignment is designed to deliver a centralized monitoring solution focused specially on the AWS cloud, using AWS cloud native services and configuration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Using Ansible playbook, will help to discover and install the CloudWatch agents on available EC2 instances</a:t>
            </a:r>
          </a:p>
          <a:p>
            <a:pPr>
              <a:lnSpc>
                <a:spcPct val="150000"/>
              </a:lnSpc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F2DD9-C9B2-49D7-4D0E-147F64A6F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088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7756B-2FAD-CC5C-5958-CF3F19970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0F37E-6AEF-0414-DA54-BE838DFA6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No Centralized dashboard to monitor the multi account on single pane of glass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High potential risk for unplanned downtime due to disk space exhaustion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High human intervention required to expand storage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High Effort required to manage the storage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A4BBB-2C67-EE5F-F05F-D611EA86E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422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3495B-4F05-366C-9916-022DB41AF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High Level Architecture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5E772B7-DEBA-4A22-D348-5A1C362FF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6</a:t>
            </a:fld>
            <a:endParaRPr lang="en-US"/>
          </a:p>
        </p:txBody>
      </p:sp>
      <p:pic>
        <p:nvPicPr>
          <p:cNvPr id="10" name="Picture 9" descr="The diagram illustrates an AWS architecture with various components such as CloudWatch, SINK, subnets, gateways, and endpoints, demonstrating the infrastructure for monitoring, data flow, and cross-account integrations.&#10;&#10;AI-generated content may be incorrect.">
            <a:extLst>
              <a:ext uri="{FF2B5EF4-FFF2-40B4-BE49-F238E27FC236}">
                <a16:creationId xmlns:a16="http://schemas.microsoft.com/office/drawing/2014/main" id="{8549B234-4411-A0C5-70B2-63ABA8049F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5045" y="1505137"/>
            <a:ext cx="7750055" cy="4605883"/>
          </a:xfrm>
          <a:prstGeom prst="rect">
            <a:avLst/>
          </a:prstGeom>
        </p:spPr>
      </p:pic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F782C6CC-551C-593E-902B-86A2EC73E2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5080581"/>
              </p:ext>
            </p:extLst>
          </p:nvPr>
        </p:nvGraphicFramePr>
        <p:xfrm>
          <a:off x="1354348" y="2221992"/>
          <a:ext cx="1694178" cy="1447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3" imgW="914249" imgH="781050" progId="Package">
                  <p:embed/>
                </p:oleObj>
              </mc:Choice>
              <mc:Fallback>
                <p:oleObj name="Packager Shell Object" showAsIcon="1" r:id="rId3" imgW="914249" imgH="7810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54348" y="2221992"/>
                        <a:ext cx="1694178" cy="14471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9958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74E07-4C6D-C1EE-F7F0-1C4700BDB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B07A8-F66E-1E70-1DE0-2DEB491FD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AWS Focused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3A55A-D168-5833-C108-7C9AE40D7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63306"/>
            <a:ext cx="10691265" cy="4098582"/>
          </a:xfrm>
        </p:spPr>
        <p:txBody>
          <a:bodyPr>
            <a:norm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AWS OAM: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AWS provide a solution called Observability Access Manager (OAM) for centralized dashboarding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Creating a centralized monitoring account (SINK), server can share their Logs, Metrics into this account.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AWS link between source account and SINK account that is created in a monitoring account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When a link is created, we can optionally specify filters that specify which metric namespaces and which log groups are shared from the source account to the monitoring account.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7BB92-582C-5F6D-C25F-F2A4733A7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443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45E17-A50D-3BC5-54C5-31A82EB42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13585-374B-DC3A-41BC-7A5C69788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AWS Focused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8480C-D34B-AE7B-3241-D72EE8883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63305"/>
            <a:ext cx="10691265" cy="4261449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Monitoring &amp; Alerting: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AWS CloudWatch agent will be deployed on each server to monitor the OS-level disk utilization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Agent will stream the disk details to local AWS account’s CloudWatch service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AWS CloudWatch service in local/source account then stream the collected metrics to SINK Account (Centralized Monitoring account)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Create centralized dashboard for disk utilization in monitoring account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Every Account will have its own alarm configured with defined threshold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Configure the alarm threshold to 85% or defined by organization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Configure disk utilization alarms to send user notifications and trigger Amazon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EventBridge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for auto-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remeditation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9A7C2-C0F2-7791-6167-AA5EB438A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159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EF669-BFBA-BF1E-4FC3-BCAD854D9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707366"/>
          </a:xfrm>
        </p:spPr>
        <p:txBody>
          <a:bodyPr/>
          <a:lstStyle/>
          <a:p>
            <a:r>
              <a:rPr lang="en-IN" dirty="0"/>
              <a:t>AWS Focused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27664-935F-C2C2-A628-D26FF7C78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541253"/>
            <a:ext cx="10691265" cy="4583502"/>
          </a:xfrm>
        </p:spPr>
        <p:txBody>
          <a:bodyPr>
            <a:norm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Ansible: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Ansible dynamic discovery plugin will help to automatically query the multiple AWS accounts to discover the EC2 instance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AWS cross account IAM role will be used to scan the multiple account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Ansible playbook to create and configure the SINK and link to source account.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Make sure the SSM service is installed on all servers allowing Ansible to connect via AWS SSM instead of managing SSH keys (Port 22)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Ansible Playbook helps to call AWS SSM cloud native service to install and configure the CloudWatch agent on EC2 instance 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Ansible playbook to create the SSM document for disk expansion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9B508A-3090-4293-4C85-1A6061E12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07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382E4-875E-AE2D-2ADD-402B60F9B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D109E-D91E-437D-4C9B-CB7EF2EC0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AWS Focused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DFE4F-441C-840B-D887-44235CD9B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63306"/>
            <a:ext cx="10691265" cy="4098582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Auto Remediation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Create SSM document in every account for auto-remediation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Configure Amazon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EventBridge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in every account to invoke AWS SSM Automation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Execute SSM Automation document to increase EBS disk capacity by 20% (Linux OS)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390703-2D7B-C0E0-A37F-EF9B1F7BD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793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977C6-3FFD-1116-B719-384AC0374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BD9F9-C6E6-1ABB-3904-FDEDCC074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27517"/>
            <a:ext cx="10691265" cy="4520241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IAM:</a:t>
            </a:r>
          </a:p>
          <a:p>
            <a:pPr lvl="1">
              <a:lnSpc>
                <a:spcPct val="16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AWS IAM roles are used by the Ansible control server to communicate securely with AWS APIs</a:t>
            </a:r>
          </a:p>
          <a:p>
            <a:pPr lvl="1">
              <a:lnSpc>
                <a:spcPct val="16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Provides dynamically generated short-lived STS key</a:t>
            </a:r>
          </a:p>
          <a:p>
            <a:pPr lvl="1">
              <a:lnSpc>
                <a:spcPct val="16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Eliminates hardcoded access key or secret key within Ansible configuration</a:t>
            </a:r>
          </a:p>
          <a:p>
            <a:pPr lvl="1">
              <a:lnSpc>
                <a:spcPct val="16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Enforce encrypted communication using HTTPS method</a:t>
            </a:r>
          </a:p>
          <a:p>
            <a:pPr lvl="1">
              <a:lnSpc>
                <a:spcPct val="16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Applies granular, least-privilege permissions to each IAM role to minimize the blast radius.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A4FB1-4A02-FAE8-FEB1-C295A7561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353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3AB73-E7F0-4F77-731C-C3BD5D59B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8DB7C-2268-8713-253E-2491996BA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504D2-3FC8-11C8-4524-0DD8308EE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27517"/>
            <a:ext cx="10691265" cy="4520241"/>
          </a:xfrm>
        </p:spPr>
        <p:txBody>
          <a:bodyPr vert="horz" lIns="91440" tIns="45720" rIns="91440" bIns="45720" rtlCol="0">
            <a:normAutofit/>
          </a:bodyPr>
          <a:lstStyle/>
          <a:p>
            <a:pPr lvl="1">
              <a:lnSpc>
                <a:spcPct val="160000"/>
              </a:lnSpc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AWS Endpoints:</a:t>
            </a:r>
          </a:p>
          <a:p>
            <a:pPr lvl="2">
              <a:lnSpc>
                <a:spcPct val="150000"/>
              </a:lnSpc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Provide private AWS API access directly within the VPC without routing traffic over the public internet.</a:t>
            </a:r>
          </a:p>
          <a:p>
            <a:pPr lvl="2">
              <a:lnSpc>
                <a:spcPct val="150000"/>
              </a:lnSpc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Enable Ansible to execute AWS API calls for AWS SSM, monitoring services, and infrastructure provisioning securely.</a:t>
            </a:r>
          </a:p>
          <a:p>
            <a:pPr lvl="2">
              <a:lnSpc>
                <a:spcPct val="150000"/>
              </a:lnSpc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Route all API traffic exclusively over the private AWS network backbone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5CB3E1-1EEC-4F20-E245-6B9E0D5A3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79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A9F2A-2C1B-0E69-481B-F0191A817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ScalAbility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FDF3C-1556-9206-FC38-75D9EA98F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4" y="1738913"/>
            <a:ext cx="10691265" cy="4426098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Dynamic Discovery: Ansible will deploy the CloudWatch agent for every new discovered EC2 instance </a:t>
            </a:r>
          </a:p>
          <a:p>
            <a:pPr>
              <a:lnSpc>
                <a:spcPct val="160000"/>
              </a:lnSpc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Elimination of SSH, SSM works with AWS backbone API to communicate with EC2 instance that removes the bottleneck managing SSH lifecycle.</a:t>
            </a:r>
          </a:p>
          <a:p>
            <a:pPr>
              <a:lnSpc>
                <a:spcPct val="160000"/>
              </a:lnSpc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Automated On-boarding of EC2 instance with the standard IAM profile, SSM commands for agent installation and alarm configuration with triggers to auto-remediation</a:t>
            </a:r>
          </a:p>
          <a:p>
            <a:pPr>
              <a:lnSpc>
                <a:spcPct val="160000"/>
              </a:lnSpc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Decentralized auto-remediation protect from single point of failure means even if some issue in an account will not impact the other because every account has its own alarm and remediation</a:t>
            </a:r>
          </a:p>
          <a:p>
            <a:pPr>
              <a:lnSpc>
                <a:spcPct val="160000"/>
              </a:lnSpc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Parallel execution of alarm and auto-remediation and it can scale 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upto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AWS provided limit if any.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F569C7-AC23-90F9-2FAE-CC8D8394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34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B0881-2FE4-A926-8F16-C7A0B7C69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CA3C2-25CE-AB49-EA62-A45BA044D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56272"/>
            <a:ext cx="10691265" cy="4305616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IN" dirty="0"/>
              <a:t>Please refer to Cloud Formation Template code to create cross account IAM role for account discovery: </a:t>
            </a:r>
            <a:r>
              <a:rPr lang="en-IN" dirty="0">
                <a:hlinkClick r:id="rId2"/>
              </a:rPr>
              <a:t>Link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Please refer to the Ansible playbook for OAM SINK creation: </a:t>
            </a:r>
            <a:r>
              <a:rPr lang="en-IN" dirty="0">
                <a:hlinkClick r:id="rId3"/>
              </a:rPr>
              <a:t>Link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Please refer to the Ansible playbook for OAM SINK </a:t>
            </a:r>
            <a:r>
              <a:rPr lang="en-IN" dirty="0" err="1"/>
              <a:t>json</a:t>
            </a:r>
            <a:r>
              <a:rPr lang="en-IN" dirty="0"/>
              <a:t> policy: </a:t>
            </a:r>
            <a:r>
              <a:rPr lang="en-IN" dirty="0">
                <a:hlinkClick r:id="rId4"/>
              </a:rPr>
              <a:t>Link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Please refer to the Ansible playbook for OAM link creation for source account: </a:t>
            </a:r>
            <a:r>
              <a:rPr lang="en-IN" dirty="0">
                <a:hlinkClick r:id="rId5"/>
              </a:rPr>
              <a:t>Link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Please refer to the Ansible playbook for AWS SSM Document for Agent installation: </a:t>
            </a:r>
            <a:r>
              <a:rPr lang="en-IN" dirty="0">
                <a:hlinkClick r:id="rId6"/>
              </a:rPr>
              <a:t>Link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Please refer to the Ansible playbook for AWS Parameter to store the agent disk configuration: </a:t>
            </a:r>
            <a:r>
              <a:rPr lang="en-IN" dirty="0">
                <a:hlinkClick r:id="rId7"/>
              </a:rPr>
              <a:t>Link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Please refer to the Ansible playbook for AWS SSM document for disk expansion (Linux): </a:t>
            </a:r>
            <a:r>
              <a:rPr lang="en-IN" dirty="0">
                <a:hlinkClick r:id="rId8"/>
              </a:rPr>
              <a:t>Link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Please refer to the Ansible playbook for On-boarding a EC2 instance: </a:t>
            </a:r>
            <a:r>
              <a:rPr lang="en-IN" dirty="0">
                <a:hlinkClick r:id="rId9"/>
              </a:rPr>
              <a:t>Link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B9D97-A3C8-C328-3F07-AFA7475A5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30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260CD-79C8-30B2-5061-910D67EA3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Assignment Question &amp; 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850A9-7F44-2832-18B7-E6F7B6C7B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13781"/>
            <a:ext cx="10691265" cy="4248107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Ease of Access &amp; Management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will you securely manage VMs across multiple accounts/projects?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will Ansible connect or collect data from the VMs reliably and securely?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Ans: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Slide number 9 covers the statement: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2" action="ppaction://hlinksldjump"/>
              </a:rPr>
              <a:t>click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IN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Highlights: 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Ansible Dynamic Discovery plugin used to Manage across multiple Accounts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AWS Cross account IAM role will be used to scan across multiple account securely using AWS Backbone </a:t>
            </a:r>
          </a:p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1CD97B-C4E9-70B9-BF5A-8A88E995A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411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BDEDA-DA59-4B67-67AB-B797F9467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A4B39-9B0B-734C-8BA4-665B0B91E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Assignment Question &amp; 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4C554-F35E-DF5E-6B5F-19596CE3A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13781"/>
            <a:ext cx="10691265" cy="4248107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2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Collection &amp; Aggregation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will you gather disk usage data from all VMs?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will you centralize and present this data for easy monitoring?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Ans: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Slide number 9 covers the statement: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2" action="ppaction://hlinksldjump"/>
              </a:rPr>
              <a:t>click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IN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Highlights: </a:t>
            </a:r>
          </a:p>
          <a:p>
            <a:pPr lvl="2"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AWS CloudWatch agent is deployed across all EC2 instance (via Ansible) to gather OS-level disk utilization and stream them to local AWS account’s CloudWatch service.</a:t>
            </a:r>
          </a:p>
          <a:p>
            <a:pPr lvl="2"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AWS securely streams the disk metrics from each source account to central monitoring account.</a:t>
            </a:r>
          </a:p>
          <a:p>
            <a:pPr marL="0" indent="0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30A3E8-23C1-E4E6-09D8-57440776A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057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FCEB7-D725-D5FE-B077-054BF725A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D8679-BFDD-4067-AF8A-FB04656CB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Assignment Question &amp; 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FBE85-B618-714F-999A-C36E79151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13781"/>
            <a:ext cx="10691265" cy="4248107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Scalability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will your solution handle growth as more accounts or VMs are added over time?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Ans: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Slide number 13 covers the statement: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2" action="ppaction://hlinksldjump"/>
              </a:rPr>
              <a:t>click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IN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Highlights: </a:t>
            </a:r>
          </a:p>
          <a:p>
            <a:pPr lvl="1">
              <a:lnSpc>
                <a:spcPct val="150000"/>
              </a:lnSpc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Ansible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Dynamic Discovery plugin will discover the new server across AWS account and execute the automation to deploy the CloudWatch agent for every new discovered EC2 instance 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IN" b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006DA-2323-35E8-83FF-10465DCE3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837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DCE53-E442-C5F8-2CC8-2C25DE136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924" y="2731698"/>
            <a:ext cx="10691265" cy="1307592"/>
          </a:xfrm>
        </p:spPr>
        <p:txBody>
          <a:bodyPr/>
          <a:lstStyle/>
          <a:p>
            <a:pPr algn="ctr"/>
            <a:r>
              <a:rPr lang="en-IN" dirty="0"/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81ADD3-115C-77D5-A909-66DFE36D1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28532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1035</TotalTime>
  <Words>1111</Words>
  <Application>Microsoft Office PowerPoint</Application>
  <PresentationFormat>Widescreen</PresentationFormat>
  <Paragraphs>124</Paragraphs>
  <Slides>18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</vt:lpstr>
      <vt:lpstr>Calisto MT</vt:lpstr>
      <vt:lpstr>Univers Condensed</vt:lpstr>
      <vt:lpstr>Wingdings</vt:lpstr>
      <vt:lpstr>ChronicleVTI</vt:lpstr>
      <vt:lpstr>Packager Shell Object</vt:lpstr>
      <vt:lpstr>Lucidity Assignment</vt:lpstr>
      <vt:lpstr>Index</vt:lpstr>
      <vt:lpstr>Problem Statement</vt:lpstr>
      <vt:lpstr>Introduction</vt:lpstr>
      <vt:lpstr>challenges</vt:lpstr>
      <vt:lpstr>High Level Architecture</vt:lpstr>
      <vt:lpstr>AWS Focused solution</vt:lpstr>
      <vt:lpstr>AWS Focused solution</vt:lpstr>
      <vt:lpstr>AWS Focused solution</vt:lpstr>
      <vt:lpstr>AWS Focused solution</vt:lpstr>
      <vt:lpstr>Security</vt:lpstr>
      <vt:lpstr>Security</vt:lpstr>
      <vt:lpstr>ScalAbility</vt:lpstr>
      <vt:lpstr>Configuration</vt:lpstr>
      <vt:lpstr>Assignment Question &amp; Answers</vt:lpstr>
      <vt:lpstr>Assignment Question &amp; Answers</vt:lpstr>
      <vt:lpstr>Assignment Question &amp; Answers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Praveen Doifode</dc:creator>
  <cp:lastModifiedBy>Praveen Doifode</cp:lastModifiedBy>
  <cp:revision>12</cp:revision>
  <dcterms:created xsi:type="dcterms:W3CDTF">2026-09-25T05:28:37Z</dcterms:created>
  <dcterms:modified xsi:type="dcterms:W3CDTF">2026-09-26T12:05:40Z</dcterms:modified>
</cp:coreProperties>
</file>